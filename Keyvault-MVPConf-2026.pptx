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7" r:id="rId3"/>
    <p:sldId id="4196" r:id="rId4"/>
    <p:sldId id="261" r:id="rId5"/>
    <p:sldId id="259" r:id="rId6"/>
    <p:sldId id="257" r:id="rId7"/>
    <p:sldId id="268" r:id="rId8"/>
    <p:sldId id="269" r:id="rId9"/>
    <p:sldId id="270" r:id="rId10"/>
    <p:sldId id="4200" r:id="rId11"/>
    <p:sldId id="271" r:id="rId12"/>
    <p:sldId id="4199" r:id="rId13"/>
    <p:sldId id="263" r:id="rId14"/>
    <p:sldId id="265" r:id="rId15"/>
    <p:sldId id="266" r:id="rId16"/>
  </p:sldIdLst>
  <p:sldSz cx="18288000" cy="10287000"/>
  <p:notesSz cx="10287000" cy="18288000"/>
  <p:embeddedFontLst>
    <p:embeddedFont>
      <p:font typeface="Maven Pro Black" panose="020B0604020202020204" charset="0"/>
      <p:bold r:id="rId18"/>
    </p:embeddedFont>
    <p:embeddedFont>
      <p:font typeface="Maven Pro Bold" panose="020B0604020202020204" charset="0"/>
      <p:bold r:id="rId19"/>
      <p:italic r:id="rId20"/>
      <p:boldItalic r:id="rId21"/>
    </p:embeddedFont>
    <p:embeddedFont>
      <p:font typeface="Maven Pro ExtraBold" panose="020B0604020202020204" charset="0"/>
      <p:bold r:id="rId22"/>
    </p:embeddedFont>
    <p:embeddedFont>
      <p:font typeface="Maven Pro Medium" panose="020B0604020202020204" charset="0"/>
      <p:regular r:id="rId23"/>
    </p:embeddedFont>
    <p:embeddedFont>
      <p:font typeface="Maven Pro Regular" panose="020B0604020202020204" charset="0"/>
      <p:regular r:id="rId24"/>
      <p:bold r:id="rId25"/>
      <p:italic r:id="rId26"/>
    </p:embeddedFont>
    <p:embeddedFont>
      <p:font typeface="Maven Pro SemiBold" panose="020B0604020202020204" charset="0"/>
      <p:regular r:id="rId27"/>
      <p:bold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CFD"/>
    <a:srgbClr val="A42FFC"/>
    <a:srgbClr val="3644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2F7851-59CD-6743-8960-07CEA76D87C6}" v="23" dt="2026-08-25T23:37:22.1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13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4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22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A9FDD-61DB-4E70-6DE7-05012623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63C8E-C6BC-993C-DC2A-E07E3D472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D28E3-1625-1088-A05F-A6C3CBE48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B2257-F445-C699-B6C4-300979CBE1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3030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AD697-1FE5-9814-D35C-04E71D00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17783B-0E87-5049-671F-C9D372851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92319-4BA8-D9EB-2C1B-0DD69E0E3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5E822-06B9-8C51-0E89-38E3AE7721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43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8CCCD-C088-0576-3887-2AD8418DF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056E9-823A-149A-4A95-63DB667BC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8EA53-1984-36C3-E14E-D01D1D62E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5C3BF-9374-2E83-D4FE-571017DBCF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652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B8384-F36C-B159-1183-FEDBE4560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E2730-DF9E-4DEA-1B19-196CDE233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812AC-1664-9AE2-9359-F34549030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4938B-988C-352B-3FB1-EA2B792FAC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15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50DEA-E846-6D1B-628A-BEB1876B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5F356-F915-0541-55D3-FA117015A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C2A50-EC5C-37DF-9086-4F675051A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FB109-8A15-1C0F-9D08-051C5D3AAD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30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https://experience.mvpconf.com.br/patrocinadores/patrocinadores.png" TargetMode="Externa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er_1" descr="preencoded.png">
            <a:extLst>
              <a:ext uri="{FF2B5EF4-FFF2-40B4-BE49-F238E27FC236}">
                <a16:creationId xmlns:a16="http://schemas.microsoft.com/office/drawing/2014/main" id="{AC0E9B5B-EDEE-53B1-7564-8E840A360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648"/>
          <a:stretch>
            <a:fillRect/>
          </a:stretch>
        </p:blipFill>
        <p:spPr>
          <a:xfrm>
            <a:off x="8602227" y="0"/>
            <a:ext cx="9685773" cy="10287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9D0CCDF-D0E3-A93B-8759-44BAE678CDF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66825" y="1540218"/>
            <a:ext cx="3438525" cy="650531"/>
          </a:xfrm>
          <a:prstGeom prst="rect">
            <a:avLst/>
          </a:prstGeom>
        </p:spPr>
      </p:pic>
      <p:pic>
        <p:nvPicPr>
          <p:cNvPr id="5" name="Frame 1" descr="preencoded.png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A42FFC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248275" y="1543050"/>
            <a:ext cx="1933575" cy="647700"/>
          </a:xfrm>
          <a:prstGeom prst="rect">
            <a:avLst/>
          </a:prstGeom>
        </p:spPr>
      </p:pic>
      <p:sp>
        <p:nvSpPr>
          <p:cNvPr id="6" name="Tecnologia com propsito pessoas em movimento"/>
          <p:cNvSpPr/>
          <p:nvPr/>
        </p:nvSpPr>
        <p:spPr>
          <a:xfrm>
            <a:off x="1266825" y="3361572"/>
            <a:ext cx="11517844" cy="3457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4800" b="1" noProof="0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Gerenciamento de configurações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pt-BR" sz="4800" b="1" noProof="0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sensíveis com Azure Key </a:t>
            </a:r>
            <a:r>
              <a:rPr lang="pt-BR" sz="4800" b="1" noProof="0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Vault</a:t>
            </a:r>
            <a:endParaRPr lang="pt-BR" sz="4800" b="1" noProof="0" dirty="0">
              <a:solidFill>
                <a:srgbClr val="008CFD"/>
              </a:solidFill>
              <a:latin typeface="Maven Pro Black" pitchFamily="2" charset="77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8" name="Edio 2025"/>
          <p:cNvSpPr/>
          <p:nvPr/>
        </p:nvSpPr>
        <p:spPr>
          <a:xfrm>
            <a:off x="5592273" y="1590675"/>
            <a:ext cx="12455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008CFD"/>
                </a:solidFill>
                <a:latin typeface="Maven Pro Black" pitchFamily="2" charset="77"/>
                <a:ea typeface="Maven Pro Medium" pitchFamily="34" charset="-122"/>
                <a:cs typeface="Maven Pro Medium" pitchFamily="34" charset="-120"/>
              </a:rPr>
              <a:t>2026</a:t>
            </a:r>
            <a:endParaRPr lang="en-US" sz="2800" b="1" dirty="0">
              <a:solidFill>
                <a:srgbClr val="008CFD"/>
              </a:solidFill>
              <a:latin typeface="Maven Pro Black" pitchFamily="2" charset="77"/>
            </a:endParaRPr>
          </a:p>
        </p:txBody>
      </p:sp>
      <p:sp>
        <p:nvSpPr>
          <p:cNvPr id="9" name="contatomvpconfcombr"/>
          <p:cNvSpPr/>
          <p:nvPr/>
        </p:nvSpPr>
        <p:spPr>
          <a:xfrm>
            <a:off x="1266825" y="5938699"/>
            <a:ext cx="4721020" cy="176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06" b="1" dirty="0">
                <a:latin typeface="Maven Pro Regular" pitchFamily="34" charset="0"/>
                <a:cs typeface="Maven Pro Regular" pitchFamily="34" charset="-120"/>
              </a:rPr>
              <a:t>Joao Paulo Moreira Antunes</a:t>
            </a:r>
          </a:p>
          <a:p>
            <a:pPr marL="0" indent="0" algn="l">
              <a:lnSpc>
                <a:spcPct val="125000"/>
              </a:lnSpc>
              <a:buNone/>
            </a:pPr>
            <a:endParaRPr lang="en-US" sz="2606" b="1" dirty="0">
              <a:latin typeface="Maven Pro Regular" pitchFamily="34" charset="0"/>
              <a:cs typeface="Maven Pro Regular" pitchFamily="34" charset="-120"/>
            </a:endParaRPr>
          </a:p>
          <a:p>
            <a:r>
              <a:rPr lang="pt-BR" sz="2606" b="1" dirty="0">
                <a:latin typeface="Maven Pro Regular" pitchFamily="34" charset="0"/>
                <a:cs typeface="Maven Pro Regular" pitchFamily="34" charset="-120"/>
              </a:rPr>
              <a:t>Engenheiro de Software</a:t>
            </a:r>
          </a:p>
          <a:p>
            <a:r>
              <a:rPr lang="pt-BR" sz="2606" b="1" dirty="0">
                <a:latin typeface="Maven Pro Regular" pitchFamily="34" charset="0"/>
                <a:cs typeface="Maven Pro Regular" pitchFamily="34" charset="-120"/>
              </a:rPr>
              <a:t>Paraná Banco S/A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258DE960-FC0A-771A-B4D6-2432D70C25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3383" y="2241233"/>
            <a:ext cx="9921512" cy="794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89790-66CB-1C69-D845-44C8F48A7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16BCADB-6B58-B706-96D4-1428A9B82B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8577" y="732972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5219689D-32D4-2514-A99E-1CE61F1D70EF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E71CF8BE-6CA3-C07F-6F81-3CB3EC963B29}"/>
              </a:ext>
            </a:extLst>
          </p:cNvPr>
          <p:cNvSpPr/>
          <p:nvPr/>
        </p:nvSpPr>
        <p:spPr>
          <a:xfrm>
            <a:off x="4320564" y="511901"/>
            <a:ext cx="10763207" cy="1493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8023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Nossos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8CFD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6600" b="1" i="0" u="none" strike="noStrike" kern="1200" cap="none" spc="0" normalizeH="0" baseline="0" noProof="0" dirty="0" err="1">
                <a:ln>
                  <a:noFill/>
                </a:ln>
                <a:solidFill>
                  <a:srgbClr val="008CFD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Patrocinadores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008CFD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1" name="Tecnologia  o meio Pessoas so o fim">
            <a:extLst>
              <a:ext uri="{FF2B5EF4-FFF2-40B4-BE49-F238E27FC236}">
                <a16:creationId xmlns:a16="http://schemas.microsoft.com/office/drawing/2014/main" id="{8B0F5D27-72DF-1565-C3BC-78A909E4F801}"/>
              </a:ext>
            </a:extLst>
          </p:cNvPr>
          <p:cNvSpPr/>
          <p:nvPr/>
        </p:nvSpPr>
        <p:spPr>
          <a:xfrm>
            <a:off x="6010275" y="8714664"/>
            <a:ext cx="62674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355"/>
              </a:spcAft>
              <a:buClrTx/>
              <a:buSzTx/>
              <a:buFontTx/>
              <a:buNone/>
              <a:tabLst/>
              <a:defRPr/>
            </a:pPr>
            <a:endParaRPr kumimoji="0" lang="en-US" sz="255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+mn-ea"/>
              <a:cs typeface="+mn-cs"/>
            </a:endParaRPr>
          </a:p>
        </p:txBody>
      </p:sp>
      <p:sp>
        <p:nvSpPr>
          <p:cNvPr id="12" name="Terminador 11">
            <a:extLst>
              <a:ext uri="{FF2B5EF4-FFF2-40B4-BE49-F238E27FC236}">
                <a16:creationId xmlns:a16="http://schemas.microsoft.com/office/drawing/2014/main" id="{FF1414C9-2822-4294-76B9-A94612D9EADC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ven Pro ExtraBold" pitchFamily="2" charset="77"/>
                <a:ea typeface="+mn-ea"/>
                <a:cs typeface="+mn-cs"/>
              </a:rPr>
              <a:t>2026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CA3A80F-7EA4-986A-FD36-CB89CCB23FA9}"/>
              </a:ext>
            </a:extLst>
          </p:cNvPr>
          <p:cNvPicPr>
            <a:picLocks noChangeAspect="1"/>
          </p:cNvPicPr>
          <p:nvPr/>
        </p:nvPicPr>
        <p:blipFill>
          <a:blip r:embed="rId4" r:link="rId5"/>
          <a:stretch>
            <a:fillRect/>
          </a:stretch>
        </p:blipFill>
        <p:spPr>
          <a:xfrm>
            <a:off x="2424095" y="1622207"/>
            <a:ext cx="13439810" cy="755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943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C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AAEB9-C9E3-240E-53B1-72B4DC662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ctangle 6" descr="preencoded.png">
            <a:extLst>
              <a:ext uri="{FF2B5EF4-FFF2-40B4-BE49-F238E27FC236}">
                <a16:creationId xmlns:a16="http://schemas.microsoft.com/office/drawing/2014/main" id="{455A7864-0BE1-33BE-7AAB-E9F626E15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3629025" cy="16383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35DB44F-4E3B-09BA-121A-0B35E6C0B0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602" y="587496"/>
            <a:ext cx="2432771" cy="460254"/>
          </a:xfrm>
          <a:prstGeom prst="rect">
            <a:avLst/>
          </a:prstGeom>
        </p:spPr>
      </p:pic>
      <p:pic>
        <p:nvPicPr>
          <p:cNvPr id="2" name="Rectangle 7" descr="preencoded.png">
            <a:extLst>
              <a:ext uri="{FF2B5EF4-FFF2-40B4-BE49-F238E27FC236}">
                <a16:creationId xmlns:a16="http://schemas.microsoft.com/office/drawing/2014/main" id="{FC0612ED-D104-E47B-F370-301829D263B8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8CFD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4144625" y="0"/>
            <a:ext cx="4143375" cy="10287000"/>
          </a:xfrm>
          <a:prstGeom prst="rect">
            <a:avLst/>
          </a:prstGeom>
        </p:spPr>
      </p:pic>
      <p:sp>
        <p:nvSpPr>
          <p:cNvPr id="10" name="wwwmvpconfcombr">
            <a:extLst>
              <a:ext uri="{FF2B5EF4-FFF2-40B4-BE49-F238E27FC236}">
                <a16:creationId xmlns:a16="http://schemas.microsoft.com/office/drawing/2014/main" id="{771007AF-DA80-54CB-7C3B-1B9B148D9C7F}"/>
              </a:ext>
            </a:extLst>
          </p:cNvPr>
          <p:cNvSpPr/>
          <p:nvPr/>
        </p:nvSpPr>
        <p:spPr>
          <a:xfrm>
            <a:off x="14867467" y="9182100"/>
            <a:ext cx="26871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Maven Pro SemiBold" pitchFamily="2" charset="77"/>
                <a:ea typeface="Inter" panose="02000503000000020004" pitchFamily="2" charset="0"/>
                <a:cs typeface="Maven Pro Regular" pitchFamily="34" charset="-120"/>
              </a:rPr>
              <a:t>www.mvpconf.com.br</a:t>
            </a:r>
            <a:endParaRPr lang="en-US" sz="1800" b="1" dirty="0">
              <a:latin typeface="Maven Pro SemiBold" pitchFamily="2" charset="77"/>
              <a:ea typeface="Inter" panose="02000503000000020004" pitchFamily="2" charset="0"/>
            </a:endParaRPr>
          </a:p>
        </p:txBody>
      </p:sp>
      <p:sp>
        <p:nvSpPr>
          <p:cNvPr id="15" name="Terminador 14">
            <a:extLst>
              <a:ext uri="{FF2B5EF4-FFF2-40B4-BE49-F238E27FC236}">
                <a16:creationId xmlns:a16="http://schemas.microsoft.com/office/drawing/2014/main" id="{3BC14A07-E07F-A7AA-52ED-13AA75116D5F}"/>
              </a:ext>
            </a:extLst>
          </p:cNvPr>
          <p:cNvSpPr/>
          <p:nvPr/>
        </p:nvSpPr>
        <p:spPr>
          <a:xfrm>
            <a:off x="15391818" y="610740"/>
            <a:ext cx="2296107" cy="71856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8CFD"/>
                </a:solidFill>
                <a:latin typeface="Maven Pro ExtraBold" pitchFamily="2" charset="77"/>
              </a:rPr>
              <a:t>2026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48848FF-5AF9-1382-A5B0-9DA57020967C}"/>
              </a:ext>
            </a:extLst>
          </p:cNvPr>
          <p:cNvSpPr txBox="1"/>
          <p:nvPr/>
        </p:nvSpPr>
        <p:spPr>
          <a:xfrm>
            <a:off x="379746" y="1633075"/>
            <a:ext cx="9144000" cy="2286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7200" b="1" dirty="0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Azure</a:t>
            </a:r>
            <a:r>
              <a:rPr lang="pt-BR" sz="7200" spc="-74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7200" b="1" dirty="0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Key </a:t>
            </a:r>
            <a:r>
              <a:rPr lang="pt-BR" sz="7200" b="1" dirty="0" err="1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Vault</a:t>
            </a:r>
            <a:endParaRPr lang="pt-PT" altLang="pt-BR" sz="7200" b="1" dirty="0">
              <a:solidFill>
                <a:srgbClr val="FFFFFF"/>
              </a:solidFill>
              <a:latin typeface="Maven Pro Black" pitchFamily="2" charset="77"/>
              <a:cs typeface="Maven Pro Regular" pitchFamily="34" charset="-120"/>
            </a:endParaRPr>
          </a:p>
          <a:p>
            <a:endParaRPr lang="pt-BR" sz="7200" b="1" dirty="0">
              <a:solidFill>
                <a:srgbClr val="FFFFFF"/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D496345-60D6-27B0-D81D-65E5673073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360" y="4644483"/>
            <a:ext cx="4963275" cy="368136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B893621-2E69-6473-E532-3CAD3EF9DDCF}"/>
              </a:ext>
            </a:extLst>
          </p:cNvPr>
          <p:cNvSpPr txBox="1"/>
          <p:nvPr/>
        </p:nvSpPr>
        <p:spPr>
          <a:xfrm>
            <a:off x="423360" y="3079450"/>
            <a:ext cx="174848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dirty="0">
                <a:solidFill>
                  <a:srgbClr val="FFFFFF"/>
                </a:solidFill>
                <a:latin typeface="Maven Pro Bold" pitchFamily="34" charset="0"/>
                <a:cs typeface="Maven Pro Bold" pitchFamily="34" charset="-120"/>
              </a:rPr>
              <a:t>O Azure Key </a:t>
            </a:r>
            <a:r>
              <a:rPr lang="pt-BR" sz="3200" b="1" dirty="0" err="1">
                <a:solidFill>
                  <a:srgbClr val="FFFFFF"/>
                </a:solidFill>
                <a:latin typeface="Maven Pro Bold" pitchFamily="34" charset="0"/>
                <a:cs typeface="Maven Pro Bold" pitchFamily="34" charset="-120"/>
              </a:rPr>
              <a:t>Vault</a:t>
            </a:r>
            <a:r>
              <a:rPr lang="pt-BR" sz="3200" b="1" dirty="0">
                <a:solidFill>
                  <a:srgbClr val="FFFFFF"/>
                </a:solidFill>
                <a:latin typeface="Maven Pro Bold" pitchFamily="34" charset="0"/>
                <a:cs typeface="Maven Pro Bold" pitchFamily="34" charset="-120"/>
              </a:rPr>
              <a:t> permite que os desenvolvedores armazenem e gerenciem com segurança informações confidenciais.</a:t>
            </a:r>
          </a:p>
        </p:txBody>
      </p:sp>
    </p:spTree>
    <p:extLst>
      <p:ext uri="{BB962C8B-B14F-4D97-AF65-F5344CB8AC3E}">
        <p14:creationId xmlns:p14="http://schemas.microsoft.com/office/powerpoint/2010/main" val="245834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6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ctangl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3629025" cy="1638300"/>
          </a:xfrm>
          <a:prstGeom prst="rect">
            <a:avLst/>
          </a:prstGeom>
        </p:spPr>
      </p:pic>
      <p:sp>
        <p:nvSpPr>
          <p:cNvPr id="10" name="wwwmvpconfcombr"/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2" name="Como apoiamos ONGs"/>
          <p:cNvSpPr/>
          <p:nvPr/>
        </p:nvSpPr>
        <p:spPr>
          <a:xfrm>
            <a:off x="1007008" y="1710219"/>
            <a:ext cx="10146630" cy="3845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1667"/>
              </a:lnSpc>
              <a:spcAft>
                <a:spcPts val="20107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João Antunes</a:t>
            </a:r>
          </a:p>
        </p:txBody>
      </p:sp>
      <p:sp>
        <p:nvSpPr>
          <p:cNvPr id="14" name="Selecionamos organizaes srias alinhadas com nossos valores e oferecemos mais do que apoio financeiro entregamos visibilidade conexes e oportunidades"/>
          <p:cNvSpPr/>
          <p:nvPr/>
        </p:nvSpPr>
        <p:spPr>
          <a:xfrm>
            <a:off x="7868653" y="2057400"/>
            <a:ext cx="918410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FFFF"/>
                </a:solidFill>
                <a:latin typeface="Maven Pro Bold" pitchFamily="34" charset="0"/>
                <a:ea typeface="Maven Pro Bold" pitchFamily="34" charset="-122"/>
                <a:cs typeface="Maven Pro Bold" pitchFamily="34" charset="-120"/>
              </a:rPr>
              <a:t>Tecnólogo em Rede de Computadores pela </a:t>
            </a:r>
            <a:r>
              <a:rPr lang="pt-BR" sz="2400" b="1" dirty="0" err="1">
                <a:solidFill>
                  <a:srgbClr val="FFFFFF"/>
                </a:solidFill>
                <a:latin typeface="Maven Pro Bold" pitchFamily="34" charset="0"/>
                <a:ea typeface="Maven Pro Bold" pitchFamily="34" charset="-122"/>
                <a:cs typeface="Maven Pro Bold" pitchFamily="34" charset="-120"/>
              </a:rPr>
              <a:t>UniSantaCruz</a:t>
            </a:r>
            <a:endParaRPr lang="pt-BR" sz="2400" b="1" dirty="0">
              <a:solidFill>
                <a:srgbClr val="FFFFFF"/>
              </a:solidFill>
              <a:latin typeface="Maven Pro Bold" pitchFamily="34" charset="0"/>
              <a:ea typeface="Maven Pro Bold" pitchFamily="34" charset="-122"/>
              <a:cs typeface="Maven Pro Bold" pitchFamily="34" charset="-120"/>
            </a:endParaRPr>
          </a:p>
          <a:p>
            <a:pPr marL="342900" indent="-3429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FFFF"/>
                </a:solidFill>
                <a:latin typeface="Maven Pro Bold" pitchFamily="34" charset="0"/>
                <a:ea typeface="Maven Pro Bold" pitchFamily="34" charset="-122"/>
                <a:cs typeface="Maven Pro Bold" pitchFamily="34" charset="-120"/>
              </a:rPr>
              <a:t>Engenheiro da Computação pela Universidade Positivo</a:t>
            </a:r>
          </a:p>
          <a:p>
            <a:pPr marL="342900" indent="-3429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FFFF"/>
                </a:solidFill>
                <a:latin typeface="Maven Pro Bold" pitchFamily="34" charset="0"/>
                <a:ea typeface="Maven Pro Bold" pitchFamily="34" charset="-122"/>
                <a:cs typeface="Maven Pro Bold" pitchFamily="34" charset="-120"/>
              </a:rPr>
              <a:t>7 anos de Paraná Banco</a:t>
            </a:r>
          </a:p>
          <a:p>
            <a:pPr marL="342900" indent="-3429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FFFF"/>
                </a:solidFill>
                <a:latin typeface="Maven Pro Bold" pitchFamily="34" charset="0"/>
                <a:ea typeface="Maven Pro Bold" pitchFamily="34" charset="-122"/>
                <a:cs typeface="Maven Pro Bold" pitchFamily="34" charset="-120"/>
              </a:rPr>
              <a:t>Moro em Curitiba desde 2008</a:t>
            </a:r>
          </a:p>
          <a:p>
            <a:pPr marL="342900" indent="-3429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FFFF"/>
                </a:solidFill>
                <a:latin typeface="Maven Pro Bold" pitchFamily="34" charset="0"/>
                <a:ea typeface="Maven Pro Bold" pitchFamily="34" charset="-122"/>
                <a:cs typeface="Maven Pro Bold" pitchFamily="34" charset="-120"/>
              </a:rPr>
              <a:t>Engenheiro de Software</a:t>
            </a:r>
          </a:p>
          <a:p>
            <a:pPr marL="342900" indent="-3429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FFFF"/>
                </a:solidFill>
                <a:latin typeface="Maven Pro Bold" pitchFamily="34" charset="0"/>
                <a:ea typeface="Maven Pro Bold" pitchFamily="34" charset="-122"/>
                <a:cs typeface="Maven Pro Bold" pitchFamily="34" charset="-120"/>
              </a:rPr>
              <a:t>Pós graduado em Engenharia de Software pela Universidade Positivo</a:t>
            </a:r>
          </a:p>
          <a:p>
            <a:pPr marL="342900" indent="-3429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FFFF"/>
                </a:solidFill>
                <a:latin typeface="Maven Pro Bold" pitchFamily="34" charset="0"/>
                <a:ea typeface="Maven Pro Bold" pitchFamily="34" charset="-122"/>
                <a:cs typeface="Maven Pro Bold" pitchFamily="34" charset="-120"/>
              </a:rPr>
              <a:t>Pós graduado em Arquitetura de Software pela </a:t>
            </a:r>
            <a:r>
              <a:rPr lang="pt-BR" sz="2400" b="1" dirty="0" err="1">
                <a:solidFill>
                  <a:srgbClr val="FFFFFF"/>
                </a:solidFill>
                <a:latin typeface="Maven Pro Bold" pitchFamily="34" charset="0"/>
                <a:ea typeface="Maven Pro Bold" pitchFamily="34" charset="-122"/>
                <a:cs typeface="Maven Pro Bold" pitchFamily="34" charset="-120"/>
              </a:rPr>
              <a:t>XPe</a:t>
            </a:r>
            <a:endParaRPr lang="pt-BR" sz="2400" b="1" dirty="0">
              <a:solidFill>
                <a:srgbClr val="FFFFFF"/>
              </a:solidFill>
              <a:latin typeface="Maven Pro Bold" pitchFamily="34" charset="0"/>
              <a:ea typeface="Maven Pro Bold" pitchFamily="34" charset="-122"/>
              <a:cs typeface="Maven Pro Bold" pitchFamily="34" charset="-120"/>
            </a:endParaRPr>
          </a:p>
          <a:p>
            <a:pPr marL="342900" indent="-3429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FFFF"/>
                </a:solidFill>
                <a:latin typeface="Maven Pro Bold" pitchFamily="34" charset="0"/>
                <a:ea typeface="Maven Pro Bold" pitchFamily="34" charset="-122"/>
                <a:cs typeface="Maven Pro Bold" pitchFamily="34" charset="-120"/>
              </a:rPr>
              <a:t>Certificados 483C#, AZ-900, DP-900, AZ-204 e SC-900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948DEF3-2628-9532-A9FF-8B02C51B3C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602" y="587496"/>
            <a:ext cx="2432771" cy="460254"/>
          </a:xfrm>
          <a:prstGeom prst="rect">
            <a:avLst/>
          </a:prstGeom>
        </p:spPr>
      </p:pic>
      <p:sp>
        <p:nvSpPr>
          <p:cNvPr id="7" name="Terminador 6">
            <a:extLst>
              <a:ext uri="{FF2B5EF4-FFF2-40B4-BE49-F238E27FC236}">
                <a16:creationId xmlns:a16="http://schemas.microsoft.com/office/drawing/2014/main" id="{31F77785-F136-2144-96B5-086212E5DAE5}"/>
              </a:ext>
            </a:extLst>
          </p:cNvPr>
          <p:cNvSpPr/>
          <p:nvPr/>
        </p:nvSpPr>
        <p:spPr>
          <a:xfrm>
            <a:off x="15391818" y="610740"/>
            <a:ext cx="2296107" cy="71856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8CFD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DF00157-5E46-182F-443B-7D9B05FC9D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8457" y="2996045"/>
            <a:ext cx="4944457" cy="36289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6611F980-4920-46E0-193D-01D000A6F0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/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F6278BE9-20E6-1C26-67D5-71FBBA8F47EE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6767ADF-7A34-379D-A658-1AE01FE72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22" y="1338968"/>
            <a:ext cx="5522906" cy="423639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58F88A5-52B0-3752-B303-E2E8BDFC72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7959" y="4955807"/>
            <a:ext cx="4502368" cy="456919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F8A0014-109C-E682-DE46-74796E948A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959" y="1776113"/>
            <a:ext cx="5522906" cy="30358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8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ctangl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3629025" cy="16383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2CA1096-7333-6B0B-152C-CC0F3A52A1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602" y="587496"/>
            <a:ext cx="2432771" cy="460254"/>
          </a:xfrm>
          <a:prstGeom prst="rect">
            <a:avLst/>
          </a:prstGeom>
        </p:spPr>
      </p:pic>
      <p:pic>
        <p:nvPicPr>
          <p:cNvPr id="2" name="Rectangle 7" descr="preencoded.png"/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8CFD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4144625" y="0"/>
            <a:ext cx="4143375" cy="10287000"/>
          </a:xfrm>
          <a:prstGeom prst="rect">
            <a:avLst/>
          </a:prstGeom>
        </p:spPr>
      </p:pic>
      <p:sp>
        <p:nvSpPr>
          <p:cNvPr id="10" name="wwwmvpconfcombr"/>
          <p:cNvSpPr/>
          <p:nvPr/>
        </p:nvSpPr>
        <p:spPr>
          <a:xfrm>
            <a:off x="14867467" y="9182100"/>
            <a:ext cx="26871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Maven Pro SemiBold" pitchFamily="2" charset="77"/>
                <a:ea typeface="Inter" panose="02000503000000020004" pitchFamily="2" charset="0"/>
                <a:cs typeface="Maven Pro Regular" pitchFamily="34" charset="-120"/>
              </a:rPr>
              <a:t>www.mvpconf.com.br</a:t>
            </a:r>
            <a:endParaRPr lang="en-US" sz="1800" b="1" dirty="0">
              <a:latin typeface="Maven Pro SemiBold" pitchFamily="2" charset="77"/>
              <a:ea typeface="Inter" panose="02000503000000020004" pitchFamily="2" charset="0"/>
            </a:endParaRPr>
          </a:p>
        </p:txBody>
      </p:sp>
      <p:sp>
        <p:nvSpPr>
          <p:cNvPr id="15" name="Terminador 14">
            <a:extLst>
              <a:ext uri="{FF2B5EF4-FFF2-40B4-BE49-F238E27FC236}">
                <a16:creationId xmlns:a16="http://schemas.microsoft.com/office/drawing/2014/main" id="{635BC9D7-C259-D260-9FFB-D86DB2009CB8}"/>
              </a:ext>
            </a:extLst>
          </p:cNvPr>
          <p:cNvSpPr/>
          <p:nvPr/>
        </p:nvSpPr>
        <p:spPr>
          <a:xfrm>
            <a:off x="15391818" y="610740"/>
            <a:ext cx="2296107" cy="71856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8CFD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7088AE3-A0F2-3D77-FACD-0B966FA4A7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7559" y="2604540"/>
            <a:ext cx="7929562" cy="6369472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4E05AC9-4830-9C2B-E504-C0D513029F2E}"/>
              </a:ext>
            </a:extLst>
          </p:cNvPr>
          <p:cNvSpPr txBox="1"/>
          <p:nvPr/>
        </p:nvSpPr>
        <p:spPr>
          <a:xfrm>
            <a:off x="379746" y="1633075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altLang="pt-BR" sz="7200" b="1" dirty="0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Fluxo</a:t>
            </a:r>
            <a:endParaRPr lang="pt-BR" sz="7200" b="1" dirty="0">
              <a:solidFill>
                <a:srgbClr val="FFFFFF"/>
              </a:solidFill>
              <a:latin typeface="Maven Pro Black" pitchFamily="2" charset="77"/>
              <a:cs typeface="Maven Pro Regular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C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08896-7964-4590-0A99-686ACA68D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ctangle 6" descr="preencoded.png">
            <a:extLst>
              <a:ext uri="{FF2B5EF4-FFF2-40B4-BE49-F238E27FC236}">
                <a16:creationId xmlns:a16="http://schemas.microsoft.com/office/drawing/2014/main" id="{B8E642DC-332A-052C-EAE9-080AFA7DB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3629025" cy="16383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4B8F2CC-AE32-3693-6BC6-824851C6C56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602" y="587496"/>
            <a:ext cx="2432771" cy="460254"/>
          </a:xfrm>
          <a:prstGeom prst="rect">
            <a:avLst/>
          </a:prstGeom>
        </p:spPr>
      </p:pic>
      <p:pic>
        <p:nvPicPr>
          <p:cNvPr id="2" name="Rectangle 7" descr="preencoded.png">
            <a:extLst>
              <a:ext uri="{FF2B5EF4-FFF2-40B4-BE49-F238E27FC236}">
                <a16:creationId xmlns:a16="http://schemas.microsoft.com/office/drawing/2014/main" id="{3AF883C0-82EE-D0B2-9C7C-4A04B758F89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008CFD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4144625" y="0"/>
            <a:ext cx="4143375" cy="10287000"/>
          </a:xfrm>
          <a:prstGeom prst="rect">
            <a:avLst/>
          </a:prstGeom>
        </p:spPr>
      </p:pic>
      <p:sp>
        <p:nvSpPr>
          <p:cNvPr id="10" name="wwwmvpconfcombr">
            <a:extLst>
              <a:ext uri="{FF2B5EF4-FFF2-40B4-BE49-F238E27FC236}">
                <a16:creationId xmlns:a16="http://schemas.microsoft.com/office/drawing/2014/main" id="{128954D2-9571-E683-B272-0899EBB3EFFB}"/>
              </a:ext>
            </a:extLst>
          </p:cNvPr>
          <p:cNvSpPr/>
          <p:nvPr/>
        </p:nvSpPr>
        <p:spPr>
          <a:xfrm>
            <a:off x="14867467" y="9182100"/>
            <a:ext cx="26871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Maven Pro SemiBold" pitchFamily="2" charset="77"/>
                <a:ea typeface="Inter" panose="02000503000000020004" pitchFamily="2" charset="0"/>
                <a:cs typeface="Maven Pro Regular" pitchFamily="34" charset="-120"/>
              </a:rPr>
              <a:t>www.mvpconf.com.br</a:t>
            </a:r>
            <a:endParaRPr lang="en-US" sz="1800" b="1" dirty="0">
              <a:latin typeface="Maven Pro SemiBold" pitchFamily="2" charset="77"/>
              <a:ea typeface="Inter" panose="02000503000000020004" pitchFamily="2" charset="0"/>
            </a:endParaRPr>
          </a:p>
        </p:txBody>
      </p:sp>
      <p:sp>
        <p:nvSpPr>
          <p:cNvPr id="15" name="Terminador 14">
            <a:extLst>
              <a:ext uri="{FF2B5EF4-FFF2-40B4-BE49-F238E27FC236}">
                <a16:creationId xmlns:a16="http://schemas.microsoft.com/office/drawing/2014/main" id="{B1EF3D3B-5760-4CBC-947F-300221C9DF12}"/>
              </a:ext>
            </a:extLst>
          </p:cNvPr>
          <p:cNvSpPr/>
          <p:nvPr/>
        </p:nvSpPr>
        <p:spPr>
          <a:xfrm>
            <a:off x="15391818" y="610740"/>
            <a:ext cx="2296107" cy="71856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8CFD"/>
                </a:solidFill>
                <a:latin typeface="Maven Pro ExtraBold" pitchFamily="2" charset="77"/>
              </a:rPr>
              <a:t>2026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1CC116A-2D22-FA76-0636-9ED8F310FB8A}"/>
              </a:ext>
            </a:extLst>
          </p:cNvPr>
          <p:cNvSpPr txBox="1"/>
          <p:nvPr/>
        </p:nvSpPr>
        <p:spPr>
          <a:xfrm>
            <a:off x="379746" y="1633075"/>
            <a:ext cx="914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altLang="pt-BR" sz="7200" b="1" dirty="0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Zero</a:t>
            </a:r>
            <a:r>
              <a:rPr lang="pt-PT" altLang="pt-BR" sz="8000" dirty="0">
                <a:solidFill>
                  <a:schemeClr val="bg1"/>
                </a:solidFill>
              </a:rPr>
              <a:t> </a:t>
            </a:r>
            <a:r>
              <a:rPr lang="pt-PT" altLang="pt-BR" sz="7200" b="1" dirty="0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Trust</a:t>
            </a:r>
            <a:endParaRPr lang="pt-BR" sz="7200" b="1" dirty="0">
              <a:solidFill>
                <a:srgbClr val="FFFFFF"/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2E173C2-3B96-A3FB-05DC-6CAEC2DA24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746" y="2956514"/>
            <a:ext cx="14873255" cy="674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99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C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08896-7964-4590-0A99-686ACA68D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ctangle 6" descr="preencoded.png">
            <a:extLst>
              <a:ext uri="{FF2B5EF4-FFF2-40B4-BE49-F238E27FC236}">
                <a16:creationId xmlns:a16="http://schemas.microsoft.com/office/drawing/2014/main" id="{B8E642DC-332A-052C-EAE9-080AFA7DB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3629025" cy="16383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4B8F2CC-AE32-3693-6BC6-824851C6C5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2" y="587496"/>
            <a:ext cx="2432771" cy="460254"/>
          </a:xfrm>
          <a:prstGeom prst="rect">
            <a:avLst/>
          </a:prstGeom>
        </p:spPr>
      </p:pic>
      <p:pic>
        <p:nvPicPr>
          <p:cNvPr id="2" name="Rectangle 7" descr="preencoded.png">
            <a:extLst>
              <a:ext uri="{FF2B5EF4-FFF2-40B4-BE49-F238E27FC236}">
                <a16:creationId xmlns:a16="http://schemas.microsoft.com/office/drawing/2014/main" id="{3AF883C0-82EE-D0B2-9C7C-4A04B758F89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8CFD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4144625" y="0"/>
            <a:ext cx="4143375" cy="10287000"/>
          </a:xfrm>
          <a:prstGeom prst="rect">
            <a:avLst/>
          </a:prstGeom>
        </p:spPr>
      </p:pic>
      <p:sp>
        <p:nvSpPr>
          <p:cNvPr id="10" name="wwwmvpconfcombr">
            <a:extLst>
              <a:ext uri="{FF2B5EF4-FFF2-40B4-BE49-F238E27FC236}">
                <a16:creationId xmlns:a16="http://schemas.microsoft.com/office/drawing/2014/main" id="{128954D2-9571-E683-B272-0899EBB3EFFB}"/>
              </a:ext>
            </a:extLst>
          </p:cNvPr>
          <p:cNvSpPr/>
          <p:nvPr/>
        </p:nvSpPr>
        <p:spPr>
          <a:xfrm>
            <a:off x="14867467" y="9182100"/>
            <a:ext cx="26871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Maven Pro SemiBold" pitchFamily="2" charset="77"/>
                <a:ea typeface="Inter" panose="02000503000000020004" pitchFamily="2" charset="0"/>
                <a:cs typeface="Maven Pro Regular" pitchFamily="34" charset="-120"/>
              </a:rPr>
              <a:t>www.mvpconf.com.br</a:t>
            </a:r>
            <a:endParaRPr lang="en-US" sz="1800" b="1" dirty="0">
              <a:latin typeface="Maven Pro SemiBold" pitchFamily="2" charset="77"/>
              <a:ea typeface="Inter" panose="02000503000000020004" pitchFamily="2" charset="0"/>
            </a:endParaRPr>
          </a:p>
        </p:txBody>
      </p:sp>
      <p:sp>
        <p:nvSpPr>
          <p:cNvPr id="15" name="Terminador 14">
            <a:extLst>
              <a:ext uri="{FF2B5EF4-FFF2-40B4-BE49-F238E27FC236}">
                <a16:creationId xmlns:a16="http://schemas.microsoft.com/office/drawing/2014/main" id="{B1EF3D3B-5760-4CBC-947F-300221C9DF12}"/>
              </a:ext>
            </a:extLst>
          </p:cNvPr>
          <p:cNvSpPr/>
          <p:nvPr/>
        </p:nvSpPr>
        <p:spPr>
          <a:xfrm>
            <a:off x="15391818" y="610740"/>
            <a:ext cx="2296107" cy="71856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8CFD"/>
                </a:solidFill>
                <a:latin typeface="Maven Pro ExtraBold" pitchFamily="2" charset="77"/>
              </a:rPr>
              <a:t>2026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1CC116A-2D22-FA76-0636-9ED8F310FB8A}"/>
              </a:ext>
            </a:extLst>
          </p:cNvPr>
          <p:cNvSpPr txBox="1"/>
          <p:nvPr/>
        </p:nvSpPr>
        <p:spPr>
          <a:xfrm>
            <a:off x="379746" y="1633075"/>
            <a:ext cx="9144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altLang="pt-BR" sz="7200" b="1" dirty="0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Boas</a:t>
            </a:r>
            <a:r>
              <a:rPr lang="pt-PT" altLang="pt-BR" sz="8000" dirty="0">
                <a:solidFill>
                  <a:schemeClr val="bg1"/>
                </a:solidFill>
              </a:rPr>
              <a:t> </a:t>
            </a:r>
            <a:r>
              <a:rPr lang="pt-PT" altLang="pt-BR" sz="7200" b="1" dirty="0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Práticas</a:t>
            </a:r>
            <a:endParaRPr lang="pt-BR" sz="7200" b="1" dirty="0">
              <a:solidFill>
                <a:srgbClr val="FFFFFF"/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sp>
        <p:nvSpPr>
          <p:cNvPr id="6" name="Boas Praticas Key Vault"/>
          <p:cNvSpPr/>
          <p:nvPr/>
        </p:nvSpPr>
        <p:spPr>
          <a:xfrm>
            <a:off x="379745" y="3050514"/>
            <a:ext cx="13764879" cy="5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FFFF"/>
                </a:solidFill>
                <a:latin typeface="Maven Pro Bold" pitchFamily="34" charset="0"/>
                <a:ea typeface="Maven Pro Bold" pitchFamily="34" charset="-122"/>
                <a:cs typeface="Maven Pro Bold" pitchFamily="34" charset="-120"/>
              </a:rPr>
              <a:t>Habilite Soft Delete e Purge Protection para evitar perda definitiva de segredos</a:t>
            </a:r>
          </a:p>
          <a:p>
            <a:pPr marL="342900" indent="-3429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FFFF"/>
                </a:solidFill>
                <a:latin typeface="Maven Pro Bold" pitchFamily="34" charset="0"/>
                <a:ea typeface="Maven Pro Bold" pitchFamily="34" charset="-122"/>
                <a:cs typeface="Maven Pro Bold" pitchFamily="34" charset="-120"/>
              </a:rPr>
              <a:t>Prefira RBAC a Access Policies legadas para controle de acesso granular</a:t>
            </a:r>
          </a:p>
          <a:p>
            <a:pPr marL="342900" indent="-3429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FFFF"/>
                </a:solidFill>
                <a:latin typeface="Maven Pro Bold" pitchFamily="34" charset="0"/>
                <a:ea typeface="Maven Pro Bold" pitchFamily="34" charset="-122"/>
                <a:cs typeface="Maven Pro Bold" pitchFamily="34" charset="-120"/>
              </a:rPr>
              <a:t>Use Managed Identity para autenticar sem credenciais fixas no código</a:t>
            </a:r>
          </a:p>
          <a:p>
            <a:pPr marL="342900" indent="-3429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FFFF"/>
                </a:solidFill>
                <a:latin typeface="Maven Pro Bold" pitchFamily="34" charset="0"/>
                <a:ea typeface="Maven Pro Bold" pitchFamily="34" charset="-122"/>
                <a:cs typeface="Maven Pro Bold" pitchFamily="34" charset="-120"/>
              </a:rPr>
              <a:t>Configure rotação automática de segredos, chaves e certificados</a:t>
            </a:r>
          </a:p>
          <a:p>
            <a:pPr marL="342900" indent="-3429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FFFF"/>
                </a:solidFill>
                <a:latin typeface="Maven Pro Bold" pitchFamily="34" charset="0"/>
                <a:ea typeface="Maven Pro Bold" pitchFamily="34" charset="-122"/>
                <a:cs typeface="Maven Pro Bold" pitchFamily="34" charset="-120"/>
              </a:rPr>
              <a:t>Restrinja o acesso com Private Endpoint e regras de firewall</a:t>
            </a:r>
          </a:p>
          <a:p>
            <a:pPr marL="342900" indent="-3429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FFFF"/>
                </a:solidFill>
                <a:latin typeface="Maven Pro Bold" pitchFamily="34" charset="0"/>
                <a:ea typeface="Maven Pro Bold" pitchFamily="34" charset="-122"/>
                <a:cs typeface="Maven Pro Bold" pitchFamily="34" charset="-120"/>
              </a:rPr>
              <a:t>Monitore acessos e alterações com Diagnostic Settings e Azure Monitor</a:t>
            </a:r>
          </a:p>
          <a:p>
            <a:pPr marL="342900" indent="-3429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FFFF"/>
                </a:solidFill>
                <a:latin typeface="Maven Pro Bold" pitchFamily="34" charset="0"/>
                <a:cs typeface="Maven Pro Bold" pitchFamily="34" charset="-120"/>
              </a:rPr>
              <a:t>Use chave com HSM (Hardware Security Module) </a:t>
            </a:r>
          </a:p>
          <a:p>
            <a:pPr marL="1257300" lvl="2" indent="-3429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FFFFFF"/>
                </a:solidFill>
                <a:latin typeface="Maven Pro Bold" pitchFamily="34" charset="0"/>
                <a:cs typeface="Maven Pro Bold" pitchFamily="34" charset="-120"/>
              </a:rPr>
              <a:t>Dispositivo físico seguro que gera, protege e gerencia chaves criptográficas.</a:t>
            </a:r>
          </a:p>
        </p:txBody>
      </p:sp>
    </p:spTree>
    <p:extLst>
      <p:ext uri="{BB962C8B-B14F-4D97-AF65-F5344CB8AC3E}">
        <p14:creationId xmlns:p14="http://schemas.microsoft.com/office/powerpoint/2010/main" val="1008099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C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7F447-12A7-859A-2FFE-68C44DCDC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ctangle 6" descr="preencoded.png">
            <a:extLst>
              <a:ext uri="{FF2B5EF4-FFF2-40B4-BE49-F238E27FC236}">
                <a16:creationId xmlns:a16="http://schemas.microsoft.com/office/drawing/2014/main" id="{10291BB8-A58E-4C35-E2C8-184A87723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3629025" cy="16383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19099E1-565F-59BA-BFB1-B544F46705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2" y="587496"/>
            <a:ext cx="2432771" cy="460254"/>
          </a:xfrm>
          <a:prstGeom prst="rect">
            <a:avLst/>
          </a:prstGeom>
        </p:spPr>
      </p:pic>
      <p:pic>
        <p:nvPicPr>
          <p:cNvPr id="2" name="Rectangle 7" descr="preencoded.png">
            <a:extLst>
              <a:ext uri="{FF2B5EF4-FFF2-40B4-BE49-F238E27FC236}">
                <a16:creationId xmlns:a16="http://schemas.microsoft.com/office/drawing/2014/main" id="{4D68821D-2C15-EA5D-830A-B5F1E3A3985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8CFD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4144625" y="0"/>
            <a:ext cx="4143375" cy="10287000"/>
          </a:xfrm>
          <a:prstGeom prst="rect">
            <a:avLst/>
          </a:prstGeom>
        </p:spPr>
      </p:pic>
      <p:sp>
        <p:nvSpPr>
          <p:cNvPr id="10" name="wwwmvpconfcombr">
            <a:extLst>
              <a:ext uri="{FF2B5EF4-FFF2-40B4-BE49-F238E27FC236}">
                <a16:creationId xmlns:a16="http://schemas.microsoft.com/office/drawing/2014/main" id="{9ED883F5-D924-DAAE-C685-4603BDB7E245}"/>
              </a:ext>
            </a:extLst>
          </p:cNvPr>
          <p:cNvSpPr/>
          <p:nvPr/>
        </p:nvSpPr>
        <p:spPr>
          <a:xfrm>
            <a:off x="14867467" y="9182100"/>
            <a:ext cx="26871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Maven Pro SemiBold" pitchFamily="2" charset="77"/>
                <a:ea typeface="Inter" panose="02000503000000020004" pitchFamily="2" charset="0"/>
                <a:cs typeface="Maven Pro Regular" pitchFamily="34" charset="-120"/>
              </a:rPr>
              <a:t>www.mvpconf.com.br</a:t>
            </a:r>
            <a:endParaRPr lang="en-US" sz="1800" b="1" dirty="0">
              <a:latin typeface="Maven Pro SemiBold" pitchFamily="2" charset="77"/>
              <a:ea typeface="Inter" panose="02000503000000020004" pitchFamily="2" charset="0"/>
            </a:endParaRPr>
          </a:p>
        </p:txBody>
      </p:sp>
      <p:sp>
        <p:nvSpPr>
          <p:cNvPr id="15" name="Terminador 14">
            <a:extLst>
              <a:ext uri="{FF2B5EF4-FFF2-40B4-BE49-F238E27FC236}">
                <a16:creationId xmlns:a16="http://schemas.microsoft.com/office/drawing/2014/main" id="{904B567B-B62A-E4F0-B18B-C0A5AC17FA04}"/>
              </a:ext>
            </a:extLst>
          </p:cNvPr>
          <p:cNvSpPr/>
          <p:nvPr/>
        </p:nvSpPr>
        <p:spPr>
          <a:xfrm>
            <a:off x="15391818" y="610740"/>
            <a:ext cx="2296107" cy="71856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8CFD"/>
                </a:solidFill>
                <a:latin typeface="Maven Pro ExtraBold" pitchFamily="2" charset="77"/>
              </a:rPr>
              <a:t>2026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592BF70-D30B-246F-A1BB-9DCC002908B8}"/>
              </a:ext>
            </a:extLst>
          </p:cNvPr>
          <p:cNvSpPr txBox="1"/>
          <p:nvPr/>
        </p:nvSpPr>
        <p:spPr>
          <a:xfrm>
            <a:off x="609601" y="1816131"/>
            <a:ext cx="113053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altLang="pt-BR" sz="7200" b="1" dirty="0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Criando Recurso - DEMO</a:t>
            </a:r>
            <a:endParaRPr lang="pt-BR" sz="7200" b="1" dirty="0">
              <a:solidFill>
                <a:srgbClr val="FFFFFF"/>
              </a:solidFill>
              <a:latin typeface="Maven Pro Black" pitchFamily="2" charset="77"/>
              <a:cs typeface="Maven Pro 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8379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C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81237-935E-2060-4147-26EC09D78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ctangle 6" descr="preencoded.png">
            <a:extLst>
              <a:ext uri="{FF2B5EF4-FFF2-40B4-BE49-F238E27FC236}">
                <a16:creationId xmlns:a16="http://schemas.microsoft.com/office/drawing/2014/main" id="{0333EF9A-6AF3-4C8B-4B3C-B83C1A75F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3629025" cy="16383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1BB7580-BBDB-703D-AEFD-34B28A9043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2" y="587496"/>
            <a:ext cx="2432771" cy="460254"/>
          </a:xfrm>
          <a:prstGeom prst="rect">
            <a:avLst/>
          </a:prstGeom>
        </p:spPr>
      </p:pic>
      <p:pic>
        <p:nvPicPr>
          <p:cNvPr id="2" name="Rectangle 7" descr="preencoded.png">
            <a:extLst>
              <a:ext uri="{FF2B5EF4-FFF2-40B4-BE49-F238E27FC236}">
                <a16:creationId xmlns:a16="http://schemas.microsoft.com/office/drawing/2014/main" id="{834529AA-EAC4-137A-B4E5-6925E67D317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8CFD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4144625" y="0"/>
            <a:ext cx="4143375" cy="10287000"/>
          </a:xfrm>
          <a:prstGeom prst="rect">
            <a:avLst/>
          </a:prstGeom>
        </p:spPr>
      </p:pic>
      <p:sp>
        <p:nvSpPr>
          <p:cNvPr id="10" name="wwwmvpconfcombr">
            <a:extLst>
              <a:ext uri="{FF2B5EF4-FFF2-40B4-BE49-F238E27FC236}">
                <a16:creationId xmlns:a16="http://schemas.microsoft.com/office/drawing/2014/main" id="{F49EBBA4-8ACF-B720-EF79-1196690094E3}"/>
              </a:ext>
            </a:extLst>
          </p:cNvPr>
          <p:cNvSpPr/>
          <p:nvPr/>
        </p:nvSpPr>
        <p:spPr>
          <a:xfrm>
            <a:off x="14867467" y="9182100"/>
            <a:ext cx="26871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Maven Pro SemiBold" pitchFamily="2" charset="77"/>
                <a:ea typeface="Inter" panose="02000503000000020004" pitchFamily="2" charset="0"/>
                <a:cs typeface="Maven Pro Regular" pitchFamily="34" charset="-120"/>
              </a:rPr>
              <a:t>www.mvpconf.com.br</a:t>
            </a:r>
            <a:endParaRPr lang="en-US" sz="1800" b="1" dirty="0">
              <a:latin typeface="Maven Pro SemiBold" pitchFamily="2" charset="77"/>
              <a:ea typeface="Inter" panose="02000503000000020004" pitchFamily="2" charset="0"/>
            </a:endParaRPr>
          </a:p>
        </p:txBody>
      </p:sp>
      <p:sp>
        <p:nvSpPr>
          <p:cNvPr id="15" name="Terminador 14">
            <a:extLst>
              <a:ext uri="{FF2B5EF4-FFF2-40B4-BE49-F238E27FC236}">
                <a16:creationId xmlns:a16="http://schemas.microsoft.com/office/drawing/2014/main" id="{718463CA-48A2-4251-A9A2-6C7955311428}"/>
              </a:ext>
            </a:extLst>
          </p:cNvPr>
          <p:cNvSpPr/>
          <p:nvPr/>
        </p:nvSpPr>
        <p:spPr>
          <a:xfrm>
            <a:off x="15391818" y="610740"/>
            <a:ext cx="2296107" cy="71856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8CFD"/>
                </a:solidFill>
                <a:latin typeface="Maven Pro ExtraBold" pitchFamily="2" charset="77"/>
              </a:rPr>
              <a:t>2026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FE8357D-ACC9-44CB-BAC8-0433554DFA4D}"/>
              </a:ext>
            </a:extLst>
          </p:cNvPr>
          <p:cNvSpPr txBox="1"/>
          <p:nvPr/>
        </p:nvSpPr>
        <p:spPr>
          <a:xfrm>
            <a:off x="609601" y="1816131"/>
            <a:ext cx="137021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altLang="pt-BR" sz="7200" b="1" dirty="0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Criando Recurso - Devops</a:t>
            </a:r>
            <a:endParaRPr lang="pt-BR" sz="7200" b="1" dirty="0">
              <a:solidFill>
                <a:srgbClr val="FFFFFF"/>
              </a:solidFill>
              <a:latin typeface="Maven Pro Black" pitchFamily="2" charset="77"/>
              <a:cs typeface="Maven Pro 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9453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C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7F447-12A7-859A-2FFE-68C44DCDC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ctangle 6" descr="preencoded.png">
            <a:extLst>
              <a:ext uri="{FF2B5EF4-FFF2-40B4-BE49-F238E27FC236}">
                <a16:creationId xmlns:a16="http://schemas.microsoft.com/office/drawing/2014/main" id="{10291BB8-A58E-4C35-E2C8-184A87723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3629025" cy="16383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819099E1-565F-59BA-BFB1-B544F46705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2" y="587496"/>
            <a:ext cx="2432771" cy="460254"/>
          </a:xfrm>
          <a:prstGeom prst="rect">
            <a:avLst/>
          </a:prstGeom>
        </p:spPr>
      </p:pic>
      <p:pic>
        <p:nvPicPr>
          <p:cNvPr id="2" name="Rectangle 7" descr="preencoded.png">
            <a:extLst>
              <a:ext uri="{FF2B5EF4-FFF2-40B4-BE49-F238E27FC236}">
                <a16:creationId xmlns:a16="http://schemas.microsoft.com/office/drawing/2014/main" id="{4D68821D-2C15-EA5D-830A-B5F1E3A3985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8CFD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4144625" y="0"/>
            <a:ext cx="4143375" cy="10287000"/>
          </a:xfrm>
          <a:prstGeom prst="rect">
            <a:avLst/>
          </a:prstGeom>
        </p:spPr>
      </p:pic>
      <p:sp>
        <p:nvSpPr>
          <p:cNvPr id="10" name="wwwmvpconfcombr">
            <a:extLst>
              <a:ext uri="{FF2B5EF4-FFF2-40B4-BE49-F238E27FC236}">
                <a16:creationId xmlns:a16="http://schemas.microsoft.com/office/drawing/2014/main" id="{9ED883F5-D924-DAAE-C685-4603BDB7E245}"/>
              </a:ext>
            </a:extLst>
          </p:cNvPr>
          <p:cNvSpPr/>
          <p:nvPr/>
        </p:nvSpPr>
        <p:spPr>
          <a:xfrm>
            <a:off x="14867467" y="9182100"/>
            <a:ext cx="26871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Maven Pro SemiBold" pitchFamily="2" charset="77"/>
                <a:ea typeface="Inter" panose="02000503000000020004" pitchFamily="2" charset="0"/>
                <a:cs typeface="Maven Pro Regular" pitchFamily="34" charset="-120"/>
              </a:rPr>
              <a:t>www.mvpconf.com.br</a:t>
            </a:r>
            <a:endParaRPr lang="en-US" sz="1800" b="1" dirty="0">
              <a:latin typeface="Maven Pro SemiBold" pitchFamily="2" charset="77"/>
              <a:ea typeface="Inter" panose="02000503000000020004" pitchFamily="2" charset="0"/>
            </a:endParaRPr>
          </a:p>
        </p:txBody>
      </p:sp>
      <p:sp>
        <p:nvSpPr>
          <p:cNvPr id="15" name="Terminador 14">
            <a:extLst>
              <a:ext uri="{FF2B5EF4-FFF2-40B4-BE49-F238E27FC236}">
                <a16:creationId xmlns:a16="http://schemas.microsoft.com/office/drawing/2014/main" id="{904B567B-B62A-E4F0-B18B-C0A5AC17FA04}"/>
              </a:ext>
            </a:extLst>
          </p:cNvPr>
          <p:cNvSpPr/>
          <p:nvPr/>
        </p:nvSpPr>
        <p:spPr>
          <a:xfrm>
            <a:off x="15391818" y="610740"/>
            <a:ext cx="2296107" cy="71856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8CFD"/>
                </a:solidFill>
                <a:latin typeface="Maven Pro ExtraBold" pitchFamily="2" charset="77"/>
              </a:rPr>
              <a:t>2026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592BF70-D30B-246F-A1BB-9DCC002908B8}"/>
              </a:ext>
            </a:extLst>
          </p:cNvPr>
          <p:cNvSpPr txBox="1"/>
          <p:nvPr/>
        </p:nvSpPr>
        <p:spPr>
          <a:xfrm>
            <a:off x="319166" y="1676033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altLang="pt-BR" sz="7200" b="1" dirty="0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Pricing</a:t>
            </a:r>
            <a:endParaRPr lang="pt-BR" sz="7200" b="1" dirty="0">
              <a:solidFill>
                <a:srgbClr val="FFFFFF"/>
              </a:solidFill>
              <a:latin typeface="Maven Pro Black" pitchFamily="2" charset="77"/>
              <a:cs typeface="Maven Pro Regular" pitchFamily="34" charset="-12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3C272DC-F92A-9C90-1BEA-436060E81E00}"/>
              </a:ext>
            </a:extLst>
          </p:cNvPr>
          <p:cNvSpPr txBox="1"/>
          <p:nvPr/>
        </p:nvSpPr>
        <p:spPr>
          <a:xfrm>
            <a:off x="377397" y="9468671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https://azure.microsoft.com/en-us/pricing/calculator/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B3244B0-34EC-FBBF-A246-1D639E0AAA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8242" y="1940045"/>
            <a:ext cx="13243252" cy="698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301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C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44B9AC-890F-BFB9-2797-3848289BE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ctangle 6" descr="preencoded.png">
            <a:extLst>
              <a:ext uri="{FF2B5EF4-FFF2-40B4-BE49-F238E27FC236}">
                <a16:creationId xmlns:a16="http://schemas.microsoft.com/office/drawing/2014/main" id="{F988FD15-719E-2D70-DB97-C84C7E115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3629025" cy="16383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201E624-A034-A125-C580-656344932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2" y="587496"/>
            <a:ext cx="2432771" cy="460254"/>
          </a:xfrm>
          <a:prstGeom prst="rect">
            <a:avLst/>
          </a:prstGeom>
        </p:spPr>
      </p:pic>
      <p:pic>
        <p:nvPicPr>
          <p:cNvPr id="2" name="Rectangle 7" descr="preencoded.png">
            <a:extLst>
              <a:ext uri="{FF2B5EF4-FFF2-40B4-BE49-F238E27FC236}">
                <a16:creationId xmlns:a16="http://schemas.microsoft.com/office/drawing/2014/main" id="{A2373F69-729C-0091-E1E3-807DC2A18C6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008CFD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4144625" y="0"/>
            <a:ext cx="4143375" cy="10287000"/>
          </a:xfrm>
          <a:prstGeom prst="rect">
            <a:avLst/>
          </a:prstGeom>
        </p:spPr>
      </p:pic>
      <p:sp>
        <p:nvSpPr>
          <p:cNvPr id="10" name="wwwmvpconfcombr">
            <a:extLst>
              <a:ext uri="{FF2B5EF4-FFF2-40B4-BE49-F238E27FC236}">
                <a16:creationId xmlns:a16="http://schemas.microsoft.com/office/drawing/2014/main" id="{0A1E42F5-8AB1-6E5D-30E1-43D4C432788D}"/>
              </a:ext>
            </a:extLst>
          </p:cNvPr>
          <p:cNvSpPr/>
          <p:nvPr/>
        </p:nvSpPr>
        <p:spPr>
          <a:xfrm>
            <a:off x="14867467" y="9182100"/>
            <a:ext cx="26871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Maven Pro SemiBold" pitchFamily="2" charset="77"/>
                <a:ea typeface="Inter" panose="02000503000000020004" pitchFamily="2" charset="0"/>
                <a:cs typeface="Maven Pro Regular" pitchFamily="34" charset="-120"/>
              </a:rPr>
              <a:t>www.mvpconf.com.br</a:t>
            </a:r>
            <a:endParaRPr lang="en-US" sz="1800" b="1" dirty="0">
              <a:latin typeface="Maven Pro SemiBold" pitchFamily="2" charset="77"/>
              <a:ea typeface="Inter" panose="02000503000000020004" pitchFamily="2" charset="0"/>
            </a:endParaRPr>
          </a:p>
        </p:txBody>
      </p:sp>
      <p:sp>
        <p:nvSpPr>
          <p:cNvPr id="15" name="Terminador 14">
            <a:extLst>
              <a:ext uri="{FF2B5EF4-FFF2-40B4-BE49-F238E27FC236}">
                <a16:creationId xmlns:a16="http://schemas.microsoft.com/office/drawing/2014/main" id="{104C8050-85CE-109E-5655-3331EBB39355}"/>
              </a:ext>
            </a:extLst>
          </p:cNvPr>
          <p:cNvSpPr/>
          <p:nvPr/>
        </p:nvSpPr>
        <p:spPr>
          <a:xfrm>
            <a:off x="15391818" y="610740"/>
            <a:ext cx="2296107" cy="71856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8CFD"/>
                </a:solidFill>
                <a:latin typeface="Maven Pro ExtraBold" pitchFamily="2" charset="77"/>
              </a:rPr>
              <a:t>2026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65D1BF9-9E44-260A-9CA7-93472ACD21BC}"/>
              </a:ext>
            </a:extLst>
          </p:cNvPr>
          <p:cNvSpPr txBox="1"/>
          <p:nvPr/>
        </p:nvSpPr>
        <p:spPr>
          <a:xfrm>
            <a:off x="319166" y="1676033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7200" b="1" dirty="0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Task </a:t>
            </a:r>
            <a:r>
              <a:rPr lang="pt-BR" sz="7200" b="1" dirty="0" err="1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replace</a:t>
            </a:r>
            <a:r>
              <a:rPr lang="pt-BR" sz="7200" b="1" dirty="0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 token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2AE59CA-8E96-9790-ED79-015E88EB83D0}"/>
              </a:ext>
            </a:extLst>
          </p:cNvPr>
          <p:cNvSpPr txBox="1"/>
          <p:nvPr/>
        </p:nvSpPr>
        <p:spPr>
          <a:xfrm>
            <a:off x="377397" y="9468671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https://azure.microsoft.com/en-us/pricing/calculator/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7BBCC25-FDCD-83B8-8921-50BABF019BFA}"/>
              </a:ext>
            </a:extLst>
          </p:cNvPr>
          <p:cNvSpPr txBox="1"/>
          <p:nvPr/>
        </p:nvSpPr>
        <p:spPr>
          <a:xfrm>
            <a:off x="377396" y="3512907"/>
            <a:ext cx="157301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https://marketplace.visualstudio.com/items?itemName=qetza.replacetokens</a:t>
            </a:r>
          </a:p>
        </p:txBody>
      </p:sp>
    </p:spTree>
    <p:extLst>
      <p:ext uri="{BB962C8B-B14F-4D97-AF65-F5344CB8AC3E}">
        <p14:creationId xmlns:p14="http://schemas.microsoft.com/office/powerpoint/2010/main" val="735090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8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VP Conf"/>
          <p:cNvSpPr/>
          <p:nvPr/>
        </p:nvSpPr>
        <p:spPr>
          <a:xfrm>
            <a:off x="7562850" y="285750"/>
            <a:ext cx="9801225" cy="485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245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MVP</a:t>
            </a:r>
          </a:p>
          <a:p>
            <a:pPr marL="0" indent="0" algn="l">
              <a:buNone/>
            </a:pPr>
            <a:r>
              <a:rPr lang="en-US" sz="33245" b="1" dirty="0">
                <a:solidFill>
                  <a:srgbClr val="FFFFFF"/>
                </a:solidFill>
                <a:latin typeface="Maven Pro Black" pitchFamily="2" charset="77"/>
              </a:rPr>
              <a:t>Conf</a:t>
            </a:r>
            <a:endParaRPr lang="en-US" sz="33245" b="1" dirty="0">
              <a:latin typeface="Maven Pro Black" pitchFamily="2" charset="77"/>
            </a:endParaRPr>
          </a:p>
        </p:txBody>
      </p:sp>
      <p:pic>
        <p:nvPicPr>
          <p:cNvPr id="2" name="Group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Rectangl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0" y="0"/>
            <a:ext cx="3629025" cy="1638300"/>
          </a:xfrm>
          <a:prstGeom prst="rect">
            <a:avLst/>
          </a:prstGeom>
        </p:spPr>
      </p:pic>
      <p:pic>
        <p:nvPicPr>
          <p:cNvPr id="5" name="image 4" descr="preencoded.png"/>
          <p:cNvPicPr>
            <a:picLocks noChangeAspect="1"/>
          </p:cNvPicPr>
          <p:nvPr/>
        </p:nvPicPr>
        <p:blipFill>
          <a:blip r:embed="rId7"/>
          <a:srcRect b="11342"/>
          <a:stretch>
            <a:fillRect/>
          </a:stretch>
        </p:blipFill>
        <p:spPr>
          <a:xfrm>
            <a:off x="10382250" y="2357437"/>
            <a:ext cx="9801225" cy="7929563"/>
          </a:xfrm>
          <a:prstGeom prst="rect">
            <a:avLst/>
          </a:prstGeom>
        </p:spPr>
      </p:pic>
      <p:sp>
        <p:nvSpPr>
          <p:cNvPr id="8" name="Junte-se a ns nessa jornada"/>
          <p:cNvSpPr/>
          <p:nvPr/>
        </p:nvSpPr>
        <p:spPr>
          <a:xfrm>
            <a:off x="1267326" y="5233987"/>
            <a:ext cx="9344526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715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COMPARTILHAR</a:t>
            </a:r>
            <a:endParaRPr lang="en-US" sz="5400" b="1" dirty="0">
              <a:latin typeface="Maven Pro Black" pitchFamily="2" charset="77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410950B-EC98-C86D-98DA-791E28F7C1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587496"/>
            <a:ext cx="2432775" cy="4602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2699D-D92C-2601-F68E-56B96D25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C8AB21D-1FBE-BAC1-B396-08D6E72010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8577" y="732972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A3301F8E-F67C-E6FB-B0D0-01370B8BFB08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61778D11-EE6B-EE86-2280-4C9BC2B61979}"/>
              </a:ext>
            </a:extLst>
          </p:cNvPr>
          <p:cNvSpPr/>
          <p:nvPr/>
        </p:nvSpPr>
        <p:spPr>
          <a:xfrm>
            <a:off x="761999" y="1896376"/>
            <a:ext cx="16938879" cy="145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80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Siga MVP Conf </a:t>
            </a:r>
            <a:r>
              <a:rPr lang="en-US" sz="80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nas</a:t>
            </a:r>
            <a:r>
              <a:rPr lang="en-US" sz="80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redes </a:t>
            </a:r>
            <a:r>
              <a:rPr lang="en-US" sz="80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sociais</a:t>
            </a:r>
            <a:endParaRPr lang="en-US" sz="8000" b="1" dirty="0">
              <a:solidFill>
                <a:srgbClr val="008CFD"/>
              </a:solidFill>
              <a:latin typeface="Maven Pro Black" pitchFamily="2" charset="77"/>
            </a:endParaRPr>
          </a:p>
        </p:txBody>
      </p:sp>
      <p:sp>
        <p:nvSpPr>
          <p:cNvPr id="11" name="Tecnologia  o meio Pessoas so o fim">
            <a:extLst>
              <a:ext uri="{FF2B5EF4-FFF2-40B4-BE49-F238E27FC236}">
                <a16:creationId xmlns:a16="http://schemas.microsoft.com/office/drawing/2014/main" id="{E769BD2A-3BA4-4405-CF73-DD6CE7E8ABAA}"/>
              </a:ext>
            </a:extLst>
          </p:cNvPr>
          <p:cNvSpPr/>
          <p:nvPr/>
        </p:nvSpPr>
        <p:spPr>
          <a:xfrm>
            <a:off x="6010275" y="8714664"/>
            <a:ext cx="62674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spcAft>
                <a:spcPts val="2355"/>
              </a:spcAft>
              <a:buNone/>
            </a:pPr>
            <a:endParaRPr lang="en-US" sz="2552" dirty="0">
              <a:latin typeface="Maven Pro Medium" pitchFamily="2" charset="77"/>
            </a:endParaRPr>
          </a:p>
        </p:txBody>
      </p:sp>
      <p:sp>
        <p:nvSpPr>
          <p:cNvPr id="12" name="Terminador 11">
            <a:extLst>
              <a:ext uri="{FF2B5EF4-FFF2-40B4-BE49-F238E27FC236}">
                <a16:creationId xmlns:a16="http://schemas.microsoft.com/office/drawing/2014/main" id="{BB4B9BA1-59C2-D47D-ED74-178044078B74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3260277-BAD2-7E33-7A6B-CABE3D866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642" y="3926794"/>
            <a:ext cx="3905250" cy="390525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92571CA-C9DA-28C5-5229-69576E78F0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0188" y="3734275"/>
            <a:ext cx="4795073" cy="4598911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FC01F3B-C189-F2F8-06A7-158210EB06A9}"/>
              </a:ext>
            </a:extLst>
          </p:cNvPr>
          <p:cNvSpPr txBox="1"/>
          <p:nvPr/>
        </p:nvSpPr>
        <p:spPr>
          <a:xfrm>
            <a:off x="3398520" y="8067458"/>
            <a:ext cx="2611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LINKEDIN</a:t>
            </a:r>
          </a:p>
        </p:txBody>
      </p:sp>
    </p:spTree>
    <p:extLst>
      <p:ext uri="{BB962C8B-B14F-4D97-AF65-F5344CB8AC3E}">
        <p14:creationId xmlns:p14="http://schemas.microsoft.com/office/powerpoint/2010/main" val="2639323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C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A7154-56D1-3ECE-0E7D-C8868EE6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VP Conf">
            <a:extLst>
              <a:ext uri="{FF2B5EF4-FFF2-40B4-BE49-F238E27FC236}">
                <a16:creationId xmlns:a16="http://schemas.microsoft.com/office/drawing/2014/main" id="{BCE8F8E1-9D0C-89A3-84E8-E5260F542DB7}"/>
              </a:ext>
            </a:extLst>
          </p:cNvPr>
          <p:cNvSpPr/>
          <p:nvPr/>
        </p:nvSpPr>
        <p:spPr>
          <a:xfrm>
            <a:off x="-5643626" y="1688487"/>
            <a:ext cx="16511587" cy="3823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833"/>
              </a:lnSpc>
              <a:spcAft>
                <a:spcPts val="30672"/>
              </a:spcAft>
              <a:buNone/>
            </a:pPr>
            <a:r>
              <a:rPr lang="en-US" sz="7200" b="1" dirty="0" err="1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Obrigado</a:t>
            </a:r>
            <a:r>
              <a:rPr lang="en-US" sz="7200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!</a:t>
            </a:r>
            <a:endParaRPr lang="en-US" sz="7200" b="1" dirty="0">
              <a:latin typeface="Maven Pro Black" pitchFamily="2" charset="77"/>
            </a:endParaRPr>
          </a:p>
        </p:txBody>
      </p:sp>
      <p:pic>
        <p:nvPicPr>
          <p:cNvPr id="3" name="Rectangle 6" descr="preencoded.png">
            <a:extLst>
              <a:ext uri="{FF2B5EF4-FFF2-40B4-BE49-F238E27FC236}">
                <a16:creationId xmlns:a16="http://schemas.microsoft.com/office/drawing/2014/main" id="{557F6314-F054-611E-34C1-3CAA58AB0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3629025" cy="16383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2AC16B9-4E57-5D2A-8D14-248C1AAABA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602" y="587496"/>
            <a:ext cx="2432771" cy="460254"/>
          </a:xfrm>
          <a:prstGeom prst="rect">
            <a:avLst/>
          </a:prstGeom>
        </p:spPr>
      </p:pic>
      <p:sp>
        <p:nvSpPr>
          <p:cNvPr id="10" name="Terminador 9">
            <a:extLst>
              <a:ext uri="{FF2B5EF4-FFF2-40B4-BE49-F238E27FC236}">
                <a16:creationId xmlns:a16="http://schemas.microsoft.com/office/drawing/2014/main" id="{59FDABD2-19C3-D07E-FF38-E32F2DFA58FC}"/>
              </a:ext>
            </a:extLst>
          </p:cNvPr>
          <p:cNvSpPr/>
          <p:nvPr/>
        </p:nvSpPr>
        <p:spPr>
          <a:xfrm>
            <a:off x="15391818" y="610740"/>
            <a:ext cx="2296107" cy="71856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8CFD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0DC29F3-4CD8-D992-D03B-BB02937B09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0243" y="2704277"/>
            <a:ext cx="4919441" cy="487844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2499B9A-BD41-B995-9AF7-779967BE1157}"/>
              </a:ext>
            </a:extLst>
          </p:cNvPr>
          <p:cNvSpPr txBox="1"/>
          <p:nvPr/>
        </p:nvSpPr>
        <p:spPr>
          <a:xfrm>
            <a:off x="2021305" y="7618548"/>
            <a:ext cx="141028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7200" b="1" dirty="0">
                <a:solidFill>
                  <a:srgbClr val="FFFFFF"/>
                </a:solidFill>
                <a:latin typeface="Maven Pro Black" pitchFamily="2" charset="77"/>
                <a:cs typeface="Maven Pro Regular" pitchFamily="34" charset="-120"/>
              </a:rPr>
              <a:t>https://www.jpcomp.com.br/</a:t>
            </a:r>
          </a:p>
        </p:txBody>
      </p:sp>
    </p:spTree>
    <p:extLst>
      <p:ext uri="{BB962C8B-B14F-4D97-AF65-F5344CB8AC3E}">
        <p14:creationId xmlns:p14="http://schemas.microsoft.com/office/powerpoint/2010/main" val="3797597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1090</TotalTime>
  <Words>369</Words>
  <Application>Microsoft Office PowerPoint</Application>
  <PresentationFormat>Personalizar</PresentationFormat>
  <Paragraphs>79</Paragraphs>
  <Slides>15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5" baseType="lpstr">
      <vt:lpstr>Maven Pro ExtraBold</vt:lpstr>
      <vt:lpstr>Maven Pro Medium</vt:lpstr>
      <vt:lpstr>Maven Pro SemiBold</vt:lpstr>
      <vt:lpstr>Calibri</vt:lpstr>
      <vt:lpstr>Maven Pro Regular</vt:lpstr>
      <vt:lpstr>Arial</vt:lpstr>
      <vt:lpstr>Maven Pro Black</vt:lpstr>
      <vt:lpstr>Maven Pro Bold</vt:lpstr>
      <vt:lpstr>Aptos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/>
  <dc:description/>
  <cp:lastModifiedBy>Joao Antunes</cp:lastModifiedBy>
  <cp:revision>25</cp:revision>
  <dcterms:created xsi:type="dcterms:W3CDTF">2025-05-13T22:34:59Z</dcterms:created>
  <dcterms:modified xsi:type="dcterms:W3CDTF">2026-09-25T01:47:39Z</dcterms:modified>
  <cp:category/>
</cp:coreProperties>
</file>